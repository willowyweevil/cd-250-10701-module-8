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sldIdLst>
    <p:sldId id="256" r:id="rId2"/>
    <p:sldId id="257" r:id="rId3"/>
    <p:sldId id="258" r:id="rId4"/>
    <p:sldId id="263" r:id="rId5"/>
    <p:sldId id="264" r:id="rId6"/>
    <p:sldId id="265" r:id="rId7"/>
    <p:sldId id="259" r:id="rId8"/>
    <p:sldId id="261" r:id="rId9"/>
    <p:sldId id="266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E94CEE-5AB3-47A2-9BDA-BED2FB66990A}" v="2832" dt="2026-04-19T03:42:22.0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746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074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699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782E7A21-5BA8-4C4C-9705-3A1EA342AD8A}" type="datetime1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355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660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115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543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707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51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CE6CA204-B091-40ED-8158-331EE628B522}" type="datetime1">
              <a:rPr lang="en-US" smtClean="0"/>
              <a:t>4/18/2026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000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0214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8216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0558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42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5653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836D543-476D-434F-B209-1A114B2E3F04}" type="datetime1">
              <a:rPr lang="en-US" smtClean="0"/>
              <a:t>4/18/2026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736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4/18/2026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8030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30F2F577-5BDA-4749-9F3F-0D340DC0D6A8}" type="datetime1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0606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4/18/2026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5696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6962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76A7CFE7-E645-4439-AA6B-DA8CF856D63E}" type="datetime1">
              <a:rPr lang="en-US" smtClean="0"/>
              <a:t>4/18/2026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1696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0042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D3F6A089-BE3E-4BB0-98EE-FDF712FF3613}" type="datetime1">
              <a:rPr lang="en-US" smtClean="0"/>
              <a:t>4/18/2026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0520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AC101298-AE91-4071-9C72-5A98117ABE14}" type="datetime1">
              <a:rPr lang="en-US" smtClean="0"/>
              <a:t>4/18/2026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4596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ABE4333-790C-44CD-B503-F52418ED809A}" type="datetime1">
              <a:rPr lang="en-US" smtClean="0"/>
              <a:t>4/18/2026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7770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440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4/18/2026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0759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4/18/2026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3134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3148FABB-02FF-476F-AB37-BDD0E354E780}" type="datetime1">
              <a:rPr lang="en-US" smtClean="0"/>
              <a:t>4/18/2026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378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8528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091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522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0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6139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822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2195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90866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28401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2472244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8" y="5431536"/>
            <a:ext cx="9021471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0988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01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599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75519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8289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38884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92386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27092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29872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7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3143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029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0" r:id="rId2"/>
    <p:sldLayoutId id="2147483772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  <p:sldLayoutId id="2147483744" r:id="rId24"/>
    <p:sldLayoutId id="2147483745" r:id="rId25"/>
    <p:sldLayoutId id="2147483746" r:id="rId26"/>
    <p:sldLayoutId id="2147483747" r:id="rId27"/>
    <p:sldLayoutId id="2147483748" r:id="rId28"/>
    <p:sldLayoutId id="2147483749" r:id="rId29"/>
    <p:sldLayoutId id="2147483750" r:id="rId30"/>
    <p:sldLayoutId id="2147483751" r:id="rId31"/>
    <p:sldLayoutId id="2147483752" r:id="rId32"/>
    <p:sldLayoutId id="2147483753" r:id="rId33"/>
    <p:sldLayoutId id="2147483754" r:id="rId34"/>
    <p:sldLayoutId id="2147483755" r:id="rId35"/>
    <p:sldLayoutId id="2147483756" r:id="rId36"/>
    <p:sldLayoutId id="2147483757" r:id="rId37"/>
    <p:sldLayoutId id="2147483758" r:id="rId38"/>
    <p:sldLayoutId id="2147483759" r:id="rId39"/>
    <p:sldLayoutId id="2147483760" r:id="rId40"/>
    <p:sldLayoutId id="2147483761" r:id="rId41"/>
    <p:sldLayoutId id="2147483762" r:id="rId42"/>
    <p:sldLayoutId id="2147483763" r:id="rId43"/>
    <p:sldLayoutId id="2147483764" r:id="rId44"/>
    <p:sldLayoutId id="2147483765" r:id="rId45"/>
    <p:sldLayoutId id="2147483766" r:id="rId46"/>
    <p:sldLayoutId id="2147483767" r:id="rId47"/>
    <p:sldLayoutId id="2147483768" r:id="rId48"/>
    <p:sldLayoutId id="2147483769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371/journal.pone.0299324&amp;type=printable" TargetMode="External"/><Relationship Id="rId7" Type="http://schemas.openxmlformats.org/officeDocument/2006/relationships/image" Target="../media/image2.jpeg"/><Relationship Id="rId2" Type="http://schemas.openxmlformats.org/officeDocument/2006/relationships/hyperlink" Target="https://doi.org/10.1016/j.procs.2024.06.282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eg"/><Relationship Id="rId5" Type="http://schemas.openxmlformats.org/officeDocument/2006/relationships/hyperlink" Target="https://doi.org/10.1109/SMART55829.2022.10047649" TargetMode="External"/><Relationship Id="rId4" Type="http://schemas.openxmlformats.org/officeDocument/2006/relationships/hyperlink" Target="https://doi.org/10.32604/cmc.2024.053830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/>
          <a:p>
            <a:r>
              <a:rPr lang="en-US" sz="5000"/>
              <a:t>Software Development Lifecycle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Agile vs Waterfall</a:t>
            </a:r>
          </a:p>
        </p:txBody>
      </p:sp>
      <p:pic>
        <p:nvPicPr>
          <p:cNvPr id="4" name="Picture Placeholder 3" descr="A screen shot of a computer screen  AI-generated content may be incorrect.">
            <a:extLst>
              <a:ext uri="{FF2B5EF4-FFF2-40B4-BE49-F238E27FC236}">
                <a16:creationId xmlns:a16="http://schemas.microsoft.com/office/drawing/2014/main" id="{D4C7BD31-337A-9F47-26A7-7F2209B6A7D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7954" r="17953" b="-1"/>
          <a:stretch>
            <a:fillRect/>
          </a:stretch>
        </p:blipFill>
        <p:spPr>
          <a:xfrm>
            <a:off x="20" y="10"/>
            <a:ext cx="6584930" cy="6857990"/>
          </a:xfrm>
          <a:blipFill dpi="0" rotWithShape="1">
            <a:blip r:embed="rId3">
              <a:alphaModFix amt="60000"/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/>
              <a:t>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5A5D38-0E29-7C9B-97C1-225DAD223BFE}"/>
              </a:ext>
            </a:extLst>
          </p:cNvPr>
          <p:cNvSpPr txBox="1"/>
          <p:nvPr/>
        </p:nvSpPr>
        <p:spPr>
          <a:xfrm>
            <a:off x="7019636" y="538786"/>
            <a:ext cx="4802909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“Agile emphasizes collaborative decision-making, frequent iterations, and delivering working software to satisfy customer needs and increase business value” (Magnussen, Fougner, 2024)</a:t>
            </a:r>
            <a:endParaRPr lang="en-US"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Agile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b="1"/>
              <a:t>Product Owner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/>
              <a:t>The Clients Voice – </a:t>
            </a:r>
            <a:r>
              <a:rPr lang="en-US"/>
              <a:t>Tasked with meeting with clients and turning their needs into user stories.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/>
              <a:t>Maintains and refines backlo</a:t>
            </a:r>
            <a:r>
              <a:rPr lang="en-US" b="1"/>
              <a:t>g – </a:t>
            </a:r>
            <a:r>
              <a:rPr lang="en-US"/>
              <a:t>Keeps goals in order of priority and adds new stories when changes are needed.</a:t>
            </a:r>
          </a:p>
          <a:p>
            <a:r>
              <a:rPr lang="en-US" b="1"/>
              <a:t>Scrum Master</a:t>
            </a:r>
            <a:endParaRPr lang="en-US" b="1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/>
              <a:t>Facilitates scrum events – </a:t>
            </a:r>
            <a:r>
              <a:rPr lang="en-US" dirty="0"/>
              <a:t>runs events like the daily scrum, sprint review and retrospective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/>
              <a:t>Coaches – </a:t>
            </a:r>
            <a:r>
              <a:rPr lang="en-US"/>
              <a:t>keeps the team on track while also letting them take ownership</a:t>
            </a:r>
          </a:p>
          <a:p>
            <a:pPr lvl="0"/>
            <a:r>
              <a:rPr lang="en-US" b="1"/>
              <a:t>Developer</a:t>
            </a:r>
            <a:endParaRPr lang="en-US" b="1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/>
              <a:t>Creating the features – </a:t>
            </a:r>
            <a:r>
              <a:rPr lang="en-US"/>
              <a:t>Turns user stories into workable features </a:t>
            </a:r>
          </a:p>
          <a:p>
            <a:pPr lvl="0"/>
            <a:r>
              <a:rPr lang="en-US" b="1"/>
              <a:t>Tester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/>
              <a:t>Quality analysis – </a:t>
            </a:r>
            <a:r>
              <a:rPr lang="en-US" dirty="0"/>
              <a:t>Catching, reporting bugs and confirming acceptance criteria is met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highlight>
                  <a:srgbClr val="FFFFFF"/>
                </a:highlight>
                <a:latin typeface="Neue Haas Grotesk Text Pro"/>
                <a:cs typeface="Times New Roman"/>
              </a:rPr>
              <a:t>“As part of an agile team, testers collect customer samples of the desired </a:t>
            </a:r>
            <a:r>
              <a:rPr lang="en-US" sz="2000" dirty="0" err="1">
                <a:highlight>
                  <a:srgbClr val="FFFFFF"/>
                </a:highlight>
                <a:latin typeface="Neue Haas Grotesk Text Pro"/>
                <a:cs typeface="Times New Roman"/>
              </a:rPr>
              <a:t>behaviour</a:t>
            </a:r>
            <a:r>
              <a:rPr lang="en-US" sz="2000" dirty="0">
                <a:highlight>
                  <a:srgbClr val="FFFFFF"/>
                </a:highlight>
                <a:latin typeface="Neue Haas Grotesk Text Pro"/>
                <a:cs typeface="Times New Roman"/>
              </a:rPr>
              <a:t> and collaborate with the developer's team to help the coders translate these examples into executable specifications.” (Pathak, Khushboo, et al., 2022) </a:t>
            </a:r>
            <a:endParaRPr lang="en-US" sz="2000" dirty="0">
              <a:latin typeface="Neue Haas Grotesk Text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72338-9125-CE30-5DA8-9C76AD013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2727C-0DE4-85FA-2A1A-2BE5B1BBA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Agile Phases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FAFBD-94AB-88DC-0E29-2156EB2E7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b="1"/>
              <a:t>Backlog Creation </a:t>
            </a:r>
            <a:endParaRPr lang="en-US" b="1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/>
              <a:t>User stories – </a:t>
            </a:r>
            <a:r>
              <a:rPr lang="en-US" dirty="0"/>
              <a:t>The product owner takes the </a:t>
            </a:r>
            <a:r>
              <a:rPr lang="en-US"/>
              <a:t>client's needs and creates clear stories for the team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/>
              <a:t>Priority Planning – </a:t>
            </a:r>
            <a:r>
              <a:rPr lang="en-US" dirty="0"/>
              <a:t>The development team comes </a:t>
            </a:r>
            <a:r>
              <a:rPr lang="en-US"/>
              <a:t>together to categorize user stories by size, and estimations of effort</a:t>
            </a:r>
          </a:p>
          <a:p>
            <a:r>
              <a:rPr lang="en-US" b="1"/>
              <a:t>Sprint Planning</a:t>
            </a:r>
            <a:endParaRPr lang="en-US" b="1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/>
              <a:t>Priority Selection – </a:t>
            </a:r>
            <a:r>
              <a:rPr lang="en-US" dirty="0"/>
              <a:t>The team decides which user stories are feasible to complete during the sprint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/>
              <a:t>Sprint Goal – </a:t>
            </a:r>
            <a:r>
              <a:rPr lang="en-US"/>
              <a:t>A clear goal is defined that signals a successful sprint</a:t>
            </a:r>
          </a:p>
          <a:p>
            <a:pPr lvl="0"/>
            <a:r>
              <a:rPr lang="en-US" b="1"/>
              <a:t>Execution</a:t>
            </a:r>
            <a:endParaRPr lang="en-US" b="1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/>
              <a:t>Completing User Stories – </a:t>
            </a:r>
            <a:r>
              <a:rPr lang="en-US"/>
              <a:t>The team settles into their roles and begins to complete user stories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/>
              <a:t>Daily Scrums  - </a:t>
            </a:r>
            <a:r>
              <a:rPr lang="en-US" dirty="0"/>
              <a:t>Everyday, the team has a stand-up meeting to discuss daily goals, successes and challenges</a:t>
            </a:r>
          </a:p>
        </p:txBody>
      </p:sp>
    </p:spTree>
    <p:extLst>
      <p:ext uri="{BB962C8B-B14F-4D97-AF65-F5344CB8AC3E}">
        <p14:creationId xmlns:p14="http://schemas.microsoft.com/office/powerpoint/2010/main" val="628076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5AE8C-D6BA-B31A-FCDA-8D4068FF0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8CF4E-4D5E-1003-5312-10BDBE188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Agile Phases Pt.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3F3D7-2DBB-7A49-A2A1-A9FF5EA50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/>
              <a:t>Sprint Review</a:t>
            </a:r>
            <a:endParaRPr lang="en-US" b="1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/>
              <a:t>Deliverable – </a:t>
            </a:r>
            <a:r>
              <a:rPr lang="en-US"/>
              <a:t>The team unveils the final deliverable to the stakeholders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/>
              <a:t>Feedback – </a:t>
            </a:r>
            <a:r>
              <a:rPr lang="en-US"/>
              <a:t>Stakeholders provide feedback on the deliverable and if they are satisfied or need changes</a:t>
            </a:r>
          </a:p>
          <a:p>
            <a:r>
              <a:rPr lang="en-US" b="1"/>
              <a:t>Sprint Retrospective</a:t>
            </a:r>
            <a:endParaRPr lang="en-US" b="1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/>
              <a:t>Reflection – </a:t>
            </a:r>
            <a:r>
              <a:rPr lang="en-US"/>
              <a:t>the team reflects on what went well and what needs attention for future sprints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/>
              <a:t>Incremental Changes – </a:t>
            </a:r>
            <a:r>
              <a:rPr lang="en-US" dirty="0"/>
              <a:t>if problems or challenges were faced the team can implement small changes to make future sprints more efficient.</a:t>
            </a:r>
          </a:p>
          <a:p>
            <a:r>
              <a:rPr lang="en-US" b="1"/>
              <a:t>Backlog Refinement</a:t>
            </a:r>
            <a:endParaRPr lang="en-US" b="1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/>
              <a:t>Upcoming stories – </a:t>
            </a:r>
            <a:r>
              <a:rPr lang="en-US"/>
              <a:t>going back over the user stories helps to get ready for the next sprint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/>
              <a:t>Reprioritize – </a:t>
            </a:r>
            <a:r>
              <a:rPr lang="en-US" dirty="0"/>
              <a:t>Taking experience from the previous sprint, the team may need to restructure the user stories</a:t>
            </a:r>
          </a:p>
        </p:txBody>
      </p:sp>
    </p:spTree>
    <p:extLst>
      <p:ext uri="{BB962C8B-B14F-4D97-AF65-F5344CB8AC3E}">
        <p14:creationId xmlns:p14="http://schemas.microsoft.com/office/powerpoint/2010/main" val="132477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82939-9AD7-3DB2-3031-C62554637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1139055" cy="4940661"/>
          </a:xfrm>
        </p:spPr>
        <p:txBody>
          <a:bodyPr/>
          <a:lstStyle/>
          <a:p>
            <a:pPr algn="ctr"/>
            <a:r>
              <a:rPr lang="en-US" dirty="0"/>
              <a:t>W</a:t>
            </a:r>
            <a:br>
              <a:rPr lang="en-US" dirty="0"/>
            </a:br>
            <a:r>
              <a:rPr lang="en-US" dirty="0"/>
              <a:t>a</a:t>
            </a:r>
            <a:br>
              <a:rPr lang="en-US" dirty="0"/>
            </a:br>
            <a:r>
              <a:rPr lang="en-US" dirty="0"/>
              <a:t>t</a:t>
            </a:r>
            <a:br>
              <a:rPr lang="en-US" dirty="0"/>
            </a:br>
            <a:r>
              <a:rPr lang="en-US" dirty="0"/>
              <a:t>e</a:t>
            </a:r>
            <a:br>
              <a:rPr lang="en-US" dirty="0"/>
            </a:br>
            <a:r>
              <a:rPr lang="en-US" dirty="0"/>
              <a:t>r</a:t>
            </a:r>
            <a:br>
              <a:rPr lang="en-US" dirty="0"/>
            </a:br>
            <a:r>
              <a:rPr lang="en-US" dirty="0"/>
              <a:t>f</a:t>
            </a:r>
            <a:br>
              <a:rPr lang="en-US" dirty="0"/>
            </a:br>
            <a:r>
              <a:rPr lang="en-US" dirty="0"/>
              <a:t>a</a:t>
            </a:r>
            <a:br>
              <a:rPr lang="en-US" dirty="0"/>
            </a:br>
            <a:r>
              <a:rPr lang="en-US" dirty="0"/>
              <a:t>l</a:t>
            </a:r>
            <a:br>
              <a:rPr lang="en-US" dirty="0"/>
            </a:br>
            <a:r>
              <a:rPr lang="en-US" dirty="0" err="1"/>
              <a:t>l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C2D63-6F51-D993-B622-57246B93C9D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13338" y="877456"/>
            <a:ext cx="9269075" cy="53908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Linear progression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The waterfall method follows a strict progression of top-down. No user stories the team confers on. Just where to start and what's next.</a:t>
            </a:r>
          </a:p>
          <a:p>
            <a:r>
              <a:rPr lang="en-US"/>
              <a:t>Detailed documentation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Relies heavily on detailed documentation</a:t>
            </a:r>
          </a:p>
          <a:p>
            <a:r>
              <a:rPr lang="en-US"/>
              <a:t>"Full-proof" planning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Waterfall is a rigid structure with all details presented upfront. No room for changes once started.</a:t>
            </a:r>
            <a:endParaRPr lang="en-US" dirty="0"/>
          </a:p>
          <a:p>
            <a:r>
              <a:rPr lang="en-US"/>
              <a:t>Testing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Testing occurs at the end when the product is "finished." Any bugs or defects aren't found during the development and can cause serious delays.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826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Our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When taking on SNHU Travel as a client we decided to use a new approach, the agile-scrum approach. We found that was the correct choice. </a:t>
            </a:r>
          </a:p>
          <a:p>
            <a:r>
              <a:rPr lang="en-US" dirty="0"/>
              <a:t>With agile we are able to accommodate changes the stakeholders brought to us efficiently and not slow down </a:t>
            </a:r>
            <a:r>
              <a:rPr lang="en-US" dirty="0" err="1"/>
              <a:t>our</a:t>
            </a:r>
            <a:r>
              <a:rPr lang="en-US" dirty="0"/>
              <a:t> development.</a:t>
            </a:r>
          </a:p>
          <a:p>
            <a:r>
              <a:rPr lang="en-US" dirty="0"/>
              <a:t>Focusing on the testing and </a:t>
            </a:r>
            <a:r>
              <a:rPr lang="en-US"/>
              <a:t>development in modules, helped us to catch defects before the final deliverable. 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8420F9-5BCF-5F0E-A03F-F53BA18E9E90}"/>
              </a:ext>
            </a:extLst>
          </p:cNvPr>
          <p:cNvSpPr txBox="1"/>
          <p:nvPr/>
        </p:nvSpPr>
        <p:spPr>
          <a:xfrm>
            <a:off x="415636" y="546484"/>
            <a:ext cx="3402060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 err="1"/>
              <a:t>Communciation</a:t>
            </a:r>
            <a:r>
              <a:rPr lang="en-US" sz="2000" dirty="0"/>
              <a:t> is key as discrepancies</a:t>
            </a:r>
            <a:r>
              <a:rPr lang="en-US" sz="2000" dirty="0">
                <a:latin typeface="Neue Haas Grotesk Text Pro"/>
                <a:cs typeface="Times New Roman"/>
              </a:rPr>
              <a:t> </a:t>
            </a:r>
            <a:r>
              <a:rPr lang="en-US" sz="2000" dirty="0">
                <a:highlight>
                  <a:srgbClr val="FFFFFF"/>
                </a:highlight>
                <a:latin typeface="Neue Haas Grotesk Text Pro"/>
                <a:cs typeface="Times New Roman"/>
              </a:rPr>
              <a:t>“...frequently resulted in delays in software development and deployment, customer dissatisfaction, canceled agreements, project failures, and disputes over payments between customers and development teams. “ (Qureshi, Farooq, 2024).</a:t>
            </a:r>
            <a:endParaRPr lang="en-US" sz="2000">
              <a:latin typeface="Neue Haas Grotesk Text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Agile vs Waterfall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/>
              <a:t>Flexible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Embraces changing conditions </a:t>
            </a:r>
            <a:r>
              <a:rPr lang="en-US" sz="2000" dirty="0">
                <a:highlight>
                  <a:srgbClr val="FFFFFF"/>
                </a:highlight>
                <a:latin typeface="Neue Haas Grotesk Text Pro"/>
                <a:cs typeface="Times New Roman"/>
              </a:rPr>
              <a:t> “As requirement changes continuously, it increases irrelevancy and redundancy during testing. “ (</a:t>
            </a:r>
            <a:r>
              <a:rPr lang="en-US" sz="2000" dirty="0" err="1">
                <a:highlight>
                  <a:srgbClr val="FFFFFF"/>
                </a:highlight>
                <a:latin typeface="Neue Haas Grotesk Text Pro"/>
                <a:cs typeface="Times New Roman"/>
              </a:rPr>
              <a:t>Ilays</a:t>
            </a:r>
            <a:r>
              <a:rPr lang="en-US" sz="2000" dirty="0">
                <a:highlight>
                  <a:srgbClr val="FFFFFF"/>
                </a:highlight>
                <a:latin typeface="Neue Haas Grotesk Text Pro"/>
                <a:cs typeface="Times New Roman"/>
              </a:rPr>
              <a:t>, Irum, et al., 2024)</a:t>
            </a:r>
            <a:endParaRPr lang="en-US" sz="2000" dirty="0">
              <a:latin typeface="Neue Haas Grotesk Text Pro"/>
            </a:endParaRPr>
          </a:p>
          <a:p>
            <a:r>
              <a:rPr lang="en-US"/>
              <a:t>Collaborative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Constant communication </a:t>
            </a:r>
            <a:endParaRPr lang="en-US" dirty="0"/>
          </a:p>
          <a:p>
            <a:r>
              <a:rPr lang="en-US"/>
              <a:t>Modular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Small, incremental deliverables</a:t>
            </a:r>
            <a:endParaRPr lang="en-US" dirty="0"/>
          </a:p>
          <a:p>
            <a:r>
              <a:rPr lang="en-US"/>
              <a:t>Client-centric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Feedback from clients at every sprint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Rigid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Little room for change after start</a:t>
            </a:r>
            <a:endParaRPr lang="en-US" dirty="0"/>
          </a:p>
          <a:p>
            <a:r>
              <a:rPr lang="en-US"/>
              <a:t>Documentation heavy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Requires detailed </a:t>
            </a:r>
            <a:r>
              <a:rPr lang="en-US"/>
              <a:t>requirements</a:t>
            </a:r>
            <a:endParaRPr lang="en-US" dirty="0"/>
          </a:p>
          <a:p>
            <a:r>
              <a:rPr lang="en-US"/>
              <a:t>Plan Driven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Depends on comprehensive </a:t>
            </a:r>
            <a:r>
              <a:rPr lang="en-US"/>
              <a:t>early-stage</a:t>
            </a:r>
            <a:r>
              <a:rPr lang="en-US" dirty="0"/>
              <a:t> planning</a:t>
            </a:r>
          </a:p>
          <a:p>
            <a:r>
              <a:rPr lang="en-US"/>
              <a:t>Sequential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Before the next stage can begin, the previous stage must be completed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E279C-1FC4-2F15-E6EE-51F80FC86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44342"/>
            <a:ext cx="4361688" cy="812085"/>
          </a:xfrm>
        </p:spPr>
        <p:txBody>
          <a:bodyPr>
            <a:normAutofit fontScale="90000"/>
          </a:bodyPr>
          <a:lstStyle/>
          <a:p>
            <a:r>
              <a:rPr lang="en-US"/>
              <a:t>Sources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0D403B-B6FA-110C-D1EA-B2BCA3AA4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944427"/>
            <a:ext cx="4206240" cy="4971493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sz="1200">
                <a:highlight>
                  <a:srgbClr val="FFFFFF"/>
                </a:highlight>
                <a:latin typeface="Times New Roman"/>
                <a:cs typeface="Times New Roman"/>
              </a:rPr>
              <a:t>Magnussen, Erik Fougner, et al. “The Product Owner and Its Impact on Success and Challenges in Agile Scrum Projects: An Interview Study.” </a:t>
            </a:r>
            <a:r>
              <a:rPr lang="en-US" sz="1200" i="1">
                <a:highlight>
                  <a:srgbClr val="FFFFFF"/>
                </a:highlight>
                <a:latin typeface="Times New Roman"/>
                <a:cs typeface="Times New Roman"/>
              </a:rPr>
              <a:t>Procedia Computer Science</a:t>
            </a:r>
            <a:r>
              <a:rPr lang="en-US" sz="1200">
                <a:highlight>
                  <a:srgbClr val="FFFFFF"/>
                </a:highlight>
                <a:latin typeface="Times New Roman"/>
                <a:cs typeface="Times New Roman"/>
              </a:rPr>
              <a:t>, vol. 239, Jan. 2024, pp. 1157–64. </a:t>
            </a:r>
            <a:r>
              <a:rPr lang="en-US" sz="1200" i="1">
                <a:highlight>
                  <a:srgbClr val="FFFFFF"/>
                </a:highlight>
                <a:latin typeface="Times New Roman"/>
                <a:cs typeface="Times New Roman"/>
              </a:rPr>
              <a:t>EBSCOhost</a:t>
            </a:r>
            <a:r>
              <a:rPr lang="en-US" sz="1200">
                <a:highlight>
                  <a:srgbClr val="FFFFFF"/>
                </a:highlight>
                <a:latin typeface="Times New Roman"/>
                <a:cs typeface="Times New Roman"/>
              </a:rPr>
              <a:t>, </a:t>
            </a:r>
            <a:r>
              <a:rPr lang="en-US" sz="1200" u="sng">
                <a:highlight>
                  <a:srgbClr val="FFFFFF"/>
                </a:highlight>
                <a:latin typeface="Times New Roman"/>
                <a:cs typeface="Times New Roman"/>
                <a:hlinkClick r:id="rId2"/>
              </a:rPr>
              <a:t>https://doi.org/10.1016/j.procs.2024.06.282</a:t>
            </a:r>
            <a:r>
              <a:rPr lang="en-US" sz="120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  <a:endParaRPr lang="en-US" sz="12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200">
                <a:highlight>
                  <a:srgbClr val="FFFFFF"/>
                </a:highlight>
                <a:latin typeface="Times New Roman"/>
                <a:cs typeface="Times New Roman"/>
              </a:rPr>
              <a:t>Junaid Nasir Qureshi, and Muhammad Shoaib Farooq. “ChainAgile: A Framework for the Improvement of Scrum Agile Distributed Software Development Based on Blockchain.” </a:t>
            </a:r>
            <a:r>
              <a:rPr lang="en-US" sz="1200" i="1">
                <a:highlight>
                  <a:srgbClr val="FFFFFF"/>
                </a:highlight>
                <a:latin typeface="Times New Roman"/>
                <a:cs typeface="Times New Roman"/>
              </a:rPr>
              <a:t>PLoS ONE</a:t>
            </a:r>
            <a:r>
              <a:rPr lang="en-US" sz="1200">
                <a:highlight>
                  <a:srgbClr val="FFFFFF"/>
                </a:highlight>
                <a:latin typeface="Times New Roman"/>
                <a:cs typeface="Times New Roman"/>
              </a:rPr>
              <a:t>, vol. 19, no. 3, Jan. 2024, p. e0299324. </a:t>
            </a:r>
            <a:r>
              <a:rPr lang="en-US" sz="1200" i="1">
                <a:highlight>
                  <a:srgbClr val="FFFFFF"/>
                </a:highlight>
                <a:latin typeface="Times New Roman"/>
                <a:cs typeface="Times New Roman"/>
              </a:rPr>
              <a:t>EBSCOhost</a:t>
            </a:r>
            <a:r>
              <a:rPr lang="en-US" sz="1200">
                <a:highlight>
                  <a:srgbClr val="FFFFFF"/>
                </a:highlight>
                <a:latin typeface="Times New Roman"/>
                <a:cs typeface="Times New Roman"/>
              </a:rPr>
              <a:t>, </a:t>
            </a:r>
            <a:r>
              <a:rPr lang="en-US" sz="1200" u="sng">
                <a:highlight>
                  <a:srgbClr val="FFFFFF"/>
                </a:highlight>
                <a:latin typeface="Times New Roman"/>
                <a:cs typeface="Times New Roman"/>
                <a:hlinkClick r:id="rId3"/>
              </a:rPr>
              <a:t>https://doi.org/10.1371/journal.pone.0299324&amp;type=printable</a:t>
            </a:r>
            <a:r>
              <a:rPr lang="en-US" sz="120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  <a:endParaRPr lang="en-US" sz="12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200" err="1">
                <a:highlight>
                  <a:srgbClr val="FFFFFF"/>
                </a:highlight>
                <a:latin typeface="Times New Roman"/>
                <a:cs typeface="Times New Roman"/>
              </a:rPr>
              <a:t>Ilays</a:t>
            </a:r>
            <a:r>
              <a:rPr lang="en-US" sz="1200">
                <a:highlight>
                  <a:srgbClr val="FFFFFF"/>
                </a:highlight>
                <a:latin typeface="Times New Roman"/>
                <a:cs typeface="Times New Roman"/>
              </a:rPr>
              <a:t>, Irum, et al. “Towards Improving the Quality of Requirement and Testing Process in Agile Software Development: An Empirical Study.” </a:t>
            </a:r>
            <a:r>
              <a:rPr lang="en-US" sz="1200" i="1">
                <a:highlight>
                  <a:srgbClr val="FFFFFF"/>
                </a:highlight>
                <a:latin typeface="Times New Roman"/>
                <a:cs typeface="Times New Roman"/>
              </a:rPr>
              <a:t>Computers, Materials &amp; Continua</a:t>
            </a:r>
            <a:r>
              <a:rPr lang="en-US" sz="1200">
                <a:highlight>
                  <a:srgbClr val="FFFFFF"/>
                </a:highlight>
                <a:latin typeface="Times New Roman"/>
                <a:cs typeface="Times New Roman"/>
              </a:rPr>
              <a:t>, vol. 80, no. 3, Sept. 2024, pp. 3761–84. </a:t>
            </a:r>
            <a:r>
              <a:rPr lang="en-US" sz="1200" i="1">
                <a:highlight>
                  <a:srgbClr val="FFFFFF"/>
                </a:highlight>
                <a:latin typeface="Times New Roman"/>
                <a:cs typeface="Times New Roman"/>
              </a:rPr>
              <a:t>EBSCOhost</a:t>
            </a:r>
            <a:r>
              <a:rPr lang="en-US" sz="1200">
                <a:highlight>
                  <a:srgbClr val="FFFFFF"/>
                </a:highlight>
                <a:latin typeface="Times New Roman"/>
                <a:cs typeface="Times New Roman"/>
              </a:rPr>
              <a:t>, </a:t>
            </a:r>
            <a:r>
              <a:rPr lang="en-US" sz="1200" u="sng">
                <a:highlight>
                  <a:srgbClr val="FFFFFF"/>
                </a:highlight>
                <a:latin typeface="Times New Roman"/>
                <a:cs typeface="Times New Roman"/>
                <a:hlinkClick r:id="rId4"/>
              </a:rPr>
              <a:t>https://doi.org/10.32604/cmc.2024.053830</a:t>
            </a:r>
            <a:r>
              <a:rPr lang="en-US" sz="120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  <a:endParaRPr lang="en-US" sz="12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200">
                <a:highlight>
                  <a:srgbClr val="FFFFFF"/>
                </a:highlight>
                <a:latin typeface="Times New Roman"/>
                <a:cs typeface="Times New Roman"/>
              </a:rPr>
              <a:t>Pathak, Khushboo, et al. “Scope of Agile Approach for Software Testing Process.” </a:t>
            </a:r>
            <a:r>
              <a:rPr lang="en-US" sz="1200" i="1">
                <a:highlight>
                  <a:srgbClr val="FFFFFF"/>
                </a:highlight>
                <a:latin typeface="Times New Roman"/>
                <a:cs typeface="Times New Roman"/>
              </a:rPr>
              <a:t>2022 11th International Conference on System Modeling &amp; Advancement in Research Trends (SMART), System Modeling &amp; Advancement in Research Trends (SMART), 2022 11th International Conference On</a:t>
            </a:r>
            <a:r>
              <a:rPr lang="en-US" sz="1200">
                <a:highlight>
                  <a:srgbClr val="FFFFFF"/>
                </a:highlight>
                <a:latin typeface="Times New Roman"/>
                <a:cs typeface="Times New Roman"/>
              </a:rPr>
              <a:t>, Dec. 2022, pp. 1079–83. </a:t>
            </a:r>
            <a:r>
              <a:rPr lang="en-US" sz="1200" i="1">
                <a:highlight>
                  <a:srgbClr val="FFFFFF"/>
                </a:highlight>
                <a:latin typeface="Times New Roman"/>
                <a:cs typeface="Times New Roman"/>
              </a:rPr>
              <a:t>EBSCOhost</a:t>
            </a:r>
            <a:r>
              <a:rPr lang="en-US" sz="1200">
                <a:highlight>
                  <a:srgbClr val="FFFFFF"/>
                </a:highlight>
                <a:latin typeface="Times New Roman"/>
                <a:cs typeface="Times New Roman"/>
              </a:rPr>
              <a:t>, </a:t>
            </a:r>
            <a:r>
              <a:rPr lang="en-US" sz="1200" u="sng">
                <a:highlight>
                  <a:srgbClr val="FFFFFF"/>
                </a:highlight>
                <a:latin typeface="Times New Roman"/>
                <a:cs typeface="Times New Roman"/>
                <a:hlinkClick r:id="rId5"/>
              </a:rPr>
              <a:t>https://doi.org/10.1109/SMART55829.2022.10047649</a:t>
            </a:r>
            <a:r>
              <a:rPr lang="en-US" sz="120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  <a:endParaRPr lang="en-US" sz="12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endParaRPr lang="en-US" sz="12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en-US"/>
          </a:p>
        </p:txBody>
      </p:sp>
      <p:pic>
        <p:nvPicPr>
          <p:cNvPr id="5" name="Picture Placeholder 4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333CE81E-415A-D3F5-FDD1-353A6328EF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6"/>
          <a:srcRect l="17994" r="17994"/>
          <a:stretch/>
        </p:blipFill>
        <p:spPr>
          <a:prstGeom prst="rect">
            <a:avLst/>
          </a:prstGeom>
          <a:blipFill dpi="0" rotWithShape="1">
            <a:blip r:embed="rId7">
              <a:alphaModFix amt="60000"/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2399545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Great term! I can't wait to start implementing the Agile-Scrum tools and ideas into future projects and careers!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Helena</vt:lpstr>
      <vt:lpstr>Software Development Lifecycle</vt:lpstr>
      <vt:lpstr>Overview</vt:lpstr>
      <vt:lpstr>Agile Roles</vt:lpstr>
      <vt:lpstr>Agile Phases</vt:lpstr>
      <vt:lpstr>Agile Phases Pt. 2</vt:lpstr>
      <vt:lpstr>W a t e r f a l l</vt:lpstr>
      <vt:lpstr>Our Approach</vt:lpstr>
      <vt:lpstr>Agile vs Waterfall</vt:lpstr>
      <vt:lpstr>Sources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385</cp:revision>
  <dcterms:created xsi:type="dcterms:W3CDTF">2026-04-19T02:20:04Z</dcterms:created>
  <dcterms:modified xsi:type="dcterms:W3CDTF">2026-04-19T03:42:25Z</dcterms:modified>
</cp:coreProperties>
</file>